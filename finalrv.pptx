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75" r:id="rId4"/>
    <p:sldId id="276" r:id="rId5"/>
    <p:sldId id="278" r:id="rId6"/>
    <p:sldId id="279" r:id="rId7"/>
    <p:sldId id="280" r:id="rId8"/>
    <p:sldId id="269" r:id="rId9"/>
    <p:sldId id="282" r:id="rId10"/>
    <p:sldId id="283" r:id="rId11"/>
    <p:sldId id="285" r:id="rId12"/>
    <p:sldId id="286" r:id="rId13"/>
    <p:sldId id="287" r:id="rId14"/>
    <p:sldId id="273" r:id="rId15"/>
    <p:sldId id="272" r:id="rId16"/>
    <p:sldId id="271" r:id="rId17"/>
    <p:sldId id="281" r:id="rId18"/>
    <p:sldId id="288" r:id="rId19"/>
    <p:sldId id="270" r:id="rId20"/>
    <p:sldId id="265" r:id="rId21"/>
    <p:sldId id="26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>
        <p:scale>
          <a:sx n="66" d="100"/>
          <a:sy n="66" d="100"/>
        </p:scale>
        <p:origin x="-1301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16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838200" y="196104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Sivara</a:t>
            </a:r>
            <a:r>
              <a:rPr lang="en-GB" sz="17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makrishnan</a:t>
            </a: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Asif Mohammed H.B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r. Amarnath J.L &amp;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Dr.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Jayanthi. K.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/ Dr. Abdul Khadar A / Mr. Md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Ziaur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Rahman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PIP4004: UNIVERSITY PROJECT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E-Waste Facility Locator</a:t>
            </a:r>
            <a:b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37549" y="2513340"/>
            <a:ext cx="55426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accent1"/>
                </a:solidFill>
              </a:rPr>
              <a:t>Roll No			Student Name</a:t>
            </a:r>
          </a:p>
          <a:p>
            <a:r>
              <a:rPr lang="en-US" sz="1800" b="1" dirty="0" smtClean="0">
                <a:solidFill>
                  <a:schemeClr val="accent1"/>
                </a:solidFill>
              </a:rPr>
              <a:t>20221lcs0012 		Padma </a:t>
            </a:r>
            <a:r>
              <a:rPr lang="en-US" sz="1800" b="1" dirty="0" err="1" smtClean="0">
                <a:solidFill>
                  <a:schemeClr val="accent1"/>
                </a:solidFill>
              </a:rPr>
              <a:t>sanjana</a:t>
            </a:r>
            <a:endParaRPr lang="en-US" sz="1800" b="1" dirty="0" smtClean="0">
              <a:solidFill>
                <a:schemeClr val="accent1"/>
              </a:solidFill>
            </a:endParaRPr>
          </a:p>
          <a:p>
            <a:r>
              <a:rPr lang="en-US" sz="1800" b="1" dirty="0" smtClean="0">
                <a:solidFill>
                  <a:schemeClr val="accent1"/>
                </a:solidFill>
              </a:rPr>
              <a:t>20221lcs0006  		</a:t>
            </a:r>
            <a:r>
              <a:rPr lang="en-US" sz="1800" b="1" dirty="0" err="1" smtClean="0">
                <a:solidFill>
                  <a:schemeClr val="accent1"/>
                </a:solidFill>
              </a:rPr>
              <a:t>Yakesh</a:t>
            </a:r>
            <a:r>
              <a:rPr lang="en-US" sz="1800" b="1" dirty="0" smtClean="0">
                <a:solidFill>
                  <a:schemeClr val="accent1"/>
                </a:solidFill>
              </a:rPr>
              <a:t> </a:t>
            </a:r>
            <a:r>
              <a:rPr lang="en-US" sz="1800" b="1" dirty="0" err="1" smtClean="0">
                <a:solidFill>
                  <a:schemeClr val="accent1"/>
                </a:solidFill>
              </a:rPr>
              <a:t>Krishan</a:t>
            </a:r>
            <a:r>
              <a:rPr lang="en-US" sz="1800" b="1" dirty="0" smtClean="0">
                <a:solidFill>
                  <a:schemeClr val="accent1"/>
                </a:solidFill>
              </a:rPr>
              <a:t> D</a:t>
            </a:r>
          </a:p>
          <a:p>
            <a:r>
              <a:rPr lang="en-US" sz="1800" b="1" dirty="0" smtClean="0">
                <a:solidFill>
                  <a:schemeClr val="accent1"/>
                </a:solidFill>
              </a:rPr>
              <a:t>20221lcs0021 		</a:t>
            </a:r>
            <a:r>
              <a:rPr lang="en-US" sz="1800" b="1" dirty="0" err="1" smtClean="0">
                <a:solidFill>
                  <a:schemeClr val="accent1"/>
                </a:solidFill>
              </a:rPr>
              <a:t>Akash</a:t>
            </a:r>
            <a:r>
              <a:rPr lang="en-US" sz="1800" b="1" dirty="0" smtClean="0">
                <a:solidFill>
                  <a:schemeClr val="accent1"/>
                </a:solidFill>
              </a:rPr>
              <a:t> M P</a:t>
            </a:r>
          </a:p>
          <a:p>
            <a:r>
              <a:rPr lang="en-US" sz="1800" b="1" dirty="0" smtClean="0">
                <a:solidFill>
                  <a:schemeClr val="accent1"/>
                </a:solidFill>
              </a:rPr>
              <a:t>20221lcs0019		Ashok K</a:t>
            </a:r>
          </a:p>
          <a:p>
            <a:r>
              <a:rPr lang="en-US" sz="1800" b="1" dirty="0" smtClean="0">
                <a:solidFill>
                  <a:schemeClr val="accent1"/>
                </a:solidFill>
              </a:rPr>
              <a:t>20211cse0482		</a:t>
            </a:r>
            <a:r>
              <a:rPr lang="en-US" sz="1800" b="1" dirty="0" err="1" smtClean="0">
                <a:solidFill>
                  <a:schemeClr val="accent1"/>
                </a:solidFill>
              </a:rPr>
              <a:t>Jaykrishna</a:t>
            </a:r>
            <a:r>
              <a:rPr lang="en-US" sz="1800" b="1" dirty="0" smtClean="0">
                <a:solidFill>
                  <a:schemeClr val="accent1"/>
                </a:solidFill>
              </a:rPr>
              <a:t>  L	</a:t>
            </a:r>
            <a:endParaRPr lang="en-IN" sz="1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62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Literature Review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Drawbacks of Existing Methods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Proposed Method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Objectives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Methodology / Modules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Architecture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Hardware / Software Components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Timeline of Project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Expected Outcomes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hub link </a:t>
            </a:r>
            <a:endParaRPr lang="en-US" dirty="0"/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307939"/>
            <a:ext cx="10668000" cy="47880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Rapid urban growth has led to a surge in waste production, making manual waste sorting inefficient and error-prone.</a:t>
            </a:r>
          </a:p>
          <a:p>
            <a:endParaRPr lang="en-US" dirty="0"/>
          </a:p>
          <a:p>
            <a:r>
              <a:rPr lang="en-US" dirty="0"/>
              <a:t>Inconsistent segregation increases landfill pressure and reduces recycling efficiency.</a:t>
            </a:r>
          </a:p>
          <a:p>
            <a:endParaRPr lang="en-US" dirty="0"/>
          </a:p>
          <a:p>
            <a:r>
              <a:rPr lang="en-US" dirty="0"/>
              <a:t>This project introduces an AI-based solution using ResNet50 and </a:t>
            </a:r>
            <a:r>
              <a:rPr lang="en-US" dirty="0" err="1"/>
              <a:t>PyTorch</a:t>
            </a:r>
            <a:r>
              <a:rPr lang="en-US" dirty="0"/>
              <a:t> to automate waste classification.</a:t>
            </a:r>
          </a:p>
          <a:p>
            <a:endParaRPr lang="en-US" dirty="0"/>
          </a:p>
          <a:p>
            <a:r>
              <a:rPr lang="en-US" dirty="0"/>
              <a:t>Trained on the </a:t>
            </a:r>
            <a:r>
              <a:rPr lang="en-US" dirty="0" err="1"/>
              <a:t>TrashNet</a:t>
            </a:r>
            <a:r>
              <a:rPr lang="en-US" dirty="0"/>
              <a:t> dataset, the model identifies six waste types: plastic, metal, glass, cardboard, paper, and general trash.</a:t>
            </a:r>
          </a:p>
          <a:p>
            <a:endParaRPr lang="en-US" dirty="0"/>
          </a:p>
          <a:p>
            <a:r>
              <a:rPr lang="en-US" dirty="0"/>
              <a:t>With data augmentation techniques, the model adapts well to real-world scenarios with varied lighting and angles.</a:t>
            </a:r>
          </a:p>
          <a:p>
            <a:endParaRPr lang="en-US" dirty="0"/>
          </a:p>
          <a:p>
            <a:r>
              <a:rPr lang="en-US" dirty="0"/>
              <a:t>Achieved a validation accuracy of 97.86%, demonstrating potential for real-world deployment in smart cities.</a:t>
            </a:r>
          </a:p>
        </p:txBody>
      </p:sp>
    </p:spTree>
    <p:extLst>
      <p:ext uri="{BB962C8B-B14F-4D97-AF65-F5344CB8AC3E}">
        <p14:creationId xmlns:p14="http://schemas.microsoft.com/office/powerpoint/2010/main" val="222228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Deep Learning in Waste Sorting: Recent studies show Convolutional Neural Networks (CNNs) achieve high accuracy in image-based waste </a:t>
            </a:r>
            <a:r>
              <a:rPr lang="en-US" dirty="0" smtClean="0"/>
              <a:t>classification.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ResNet50 Superiority: Models like ResNet50 outperform basic CNNs by leveraging residual connections, improving gradient flow and learning efficiency 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Real-time Implementation: Research highlights successful deployment of lightweight CNNs on embedded systems for real-time classification 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Dataset Utilization: </a:t>
            </a:r>
            <a:r>
              <a:rPr lang="en-US" dirty="0" err="1"/>
              <a:t>TrashNet</a:t>
            </a:r>
            <a:r>
              <a:rPr lang="en-US" dirty="0"/>
              <a:t> and similar datasets have been widely used, proving effective for training robust waste classifiers 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Transfer Learning Benefits: Using </a:t>
            </a:r>
            <a:r>
              <a:rPr lang="en-US" dirty="0" err="1"/>
              <a:t>pretrained</a:t>
            </a:r>
            <a:r>
              <a:rPr lang="en-US" dirty="0"/>
              <a:t> models like ResNet50 with fine-tuning reduces training time and enhances performance 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606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 Drawback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Manual Sorting Limitations: </a:t>
            </a:r>
            <a:r>
              <a:rPr lang="en-US" dirty="0"/>
              <a:t>Time-consuming, labor-intensive, and prone to human error, leading to inefficient recycling.</a:t>
            </a:r>
          </a:p>
          <a:p>
            <a:endParaRPr lang="en-US" dirty="0"/>
          </a:p>
          <a:p>
            <a:r>
              <a:rPr lang="en-US" b="1" dirty="0"/>
              <a:t>Low Generalization: </a:t>
            </a:r>
            <a:r>
              <a:rPr lang="en-US" dirty="0"/>
              <a:t>Traditional models often fail in real-world conditions with poor lighting, varied angles, or noisy backgrounds.</a:t>
            </a:r>
          </a:p>
          <a:p>
            <a:endParaRPr lang="en-US" dirty="0"/>
          </a:p>
          <a:p>
            <a:r>
              <a:rPr lang="en-US" b="1" dirty="0"/>
              <a:t>Resource Dependency: </a:t>
            </a:r>
            <a:r>
              <a:rPr lang="en-US" dirty="0"/>
              <a:t>Many methods rely on high-end hardware, limiting deployment in resource-constrained areas.</a:t>
            </a:r>
          </a:p>
          <a:p>
            <a:pPr marL="76200" indent="0">
              <a:buNone/>
            </a:pPr>
            <a:endParaRPr lang="en-US" dirty="0"/>
          </a:p>
          <a:p>
            <a:r>
              <a:rPr lang="en-US" b="1" dirty="0"/>
              <a:t>Limited Class Coverage: </a:t>
            </a:r>
            <a:r>
              <a:rPr lang="en-US" dirty="0"/>
              <a:t>Some systems classify only a few types of waste, reducing practical applicability.</a:t>
            </a:r>
          </a:p>
          <a:p>
            <a:endParaRPr lang="en-US" b="1" dirty="0"/>
          </a:p>
          <a:p>
            <a:r>
              <a:rPr lang="en-US" b="1" dirty="0"/>
              <a:t>Inconsistent Accuracy: </a:t>
            </a:r>
            <a:r>
              <a:rPr lang="en-US" dirty="0"/>
              <a:t>Without proper data augmentation and preprocessing, existing models struggle to maintain high accuracy in diverse environments.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04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Method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Architecture Used:</a:t>
            </a:r>
            <a:r>
              <a:rPr lang="en-IN" dirty="0"/>
              <a:t> ResNet50 deep CNN model known for its residual connections and robust feature extraction capabilities.</a:t>
            </a:r>
          </a:p>
          <a:p>
            <a:r>
              <a:rPr lang="en-IN" b="1" dirty="0"/>
              <a:t>Dataset:</a:t>
            </a:r>
            <a:r>
              <a:rPr lang="en-IN" dirty="0"/>
              <a:t> Trained on the </a:t>
            </a:r>
            <a:r>
              <a:rPr lang="en-IN" b="1" dirty="0" err="1"/>
              <a:t>TrashNet</a:t>
            </a:r>
            <a:r>
              <a:rPr lang="en-IN" b="1" dirty="0"/>
              <a:t> dataset</a:t>
            </a:r>
            <a:r>
              <a:rPr lang="en-IN" dirty="0"/>
              <a:t>, covering 6 waste categories — plastic, metal, glass, cardboard, paper, and trash.</a:t>
            </a:r>
          </a:p>
          <a:p>
            <a:r>
              <a:rPr lang="en-IN" b="1" dirty="0"/>
              <a:t>Data Augmentation:</a:t>
            </a:r>
            <a:r>
              <a:rPr lang="en-IN" dirty="0"/>
              <a:t> Techniques like flipping, rotation, </a:t>
            </a:r>
            <a:r>
              <a:rPr lang="en-IN" dirty="0" err="1"/>
              <a:t>grayscale</a:t>
            </a:r>
            <a:r>
              <a:rPr lang="en-IN" dirty="0"/>
              <a:t> conversion, and brightness adjustment simulate real-world variations.</a:t>
            </a:r>
          </a:p>
          <a:p>
            <a:r>
              <a:rPr lang="en-IN" b="1" dirty="0"/>
              <a:t>Training Framework:</a:t>
            </a:r>
            <a:r>
              <a:rPr lang="en-IN" dirty="0"/>
              <a:t> Implemented using </a:t>
            </a:r>
            <a:r>
              <a:rPr lang="en-IN" b="1" dirty="0" err="1"/>
              <a:t>PyTorch</a:t>
            </a:r>
            <a:r>
              <a:rPr lang="en-IN" dirty="0"/>
              <a:t>, trained for </a:t>
            </a:r>
            <a:r>
              <a:rPr lang="en-IN" b="1" dirty="0"/>
              <a:t>25 epochs</a:t>
            </a:r>
            <a:r>
              <a:rPr lang="en-IN" dirty="0"/>
              <a:t> on GPU-supported systems.</a:t>
            </a:r>
          </a:p>
          <a:p>
            <a:r>
              <a:rPr lang="en-IN" b="1" dirty="0"/>
              <a:t>Output Layer:</a:t>
            </a:r>
            <a:r>
              <a:rPr lang="en-IN" dirty="0"/>
              <a:t> Modified to classify six categories using a </a:t>
            </a:r>
            <a:r>
              <a:rPr lang="en-IN" b="1" dirty="0" err="1"/>
              <a:t>softmax</a:t>
            </a:r>
            <a:r>
              <a:rPr lang="en-IN" b="1" dirty="0"/>
              <a:t> activation</a:t>
            </a:r>
            <a:r>
              <a:rPr lang="en-IN" dirty="0"/>
              <a:t> function.</a:t>
            </a:r>
          </a:p>
          <a:p>
            <a:r>
              <a:rPr lang="en-IN" b="1" dirty="0"/>
              <a:t>Optimization:</a:t>
            </a:r>
            <a:r>
              <a:rPr lang="en-IN" dirty="0"/>
              <a:t> Used </a:t>
            </a:r>
            <a:r>
              <a:rPr lang="en-IN" b="1" dirty="0"/>
              <a:t>Adam optimizer</a:t>
            </a:r>
            <a:r>
              <a:rPr lang="en-IN" dirty="0"/>
              <a:t> and </a:t>
            </a:r>
            <a:r>
              <a:rPr lang="en-IN" b="1" dirty="0"/>
              <a:t>cross-entropy loss</a:t>
            </a:r>
            <a:r>
              <a:rPr lang="en-IN" dirty="0"/>
              <a:t> for better learning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70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 an AI-based waste classification system using the ResNet50 architecture.</a:t>
            </a:r>
          </a:p>
          <a:p>
            <a:endParaRPr lang="en-US" dirty="0"/>
          </a:p>
          <a:p>
            <a:r>
              <a:rPr lang="en-US" dirty="0"/>
              <a:t>Automate the identification of six common waste categories from real-world images.</a:t>
            </a:r>
          </a:p>
          <a:p>
            <a:endParaRPr lang="en-US" dirty="0"/>
          </a:p>
          <a:p>
            <a:r>
              <a:rPr lang="en-US" dirty="0"/>
              <a:t>Improve classification performance under varied lighting, angles, and image quality through data augmentation.</a:t>
            </a:r>
          </a:p>
          <a:p>
            <a:endParaRPr lang="en-US" dirty="0"/>
          </a:p>
          <a:p>
            <a:r>
              <a:rPr lang="en-US" dirty="0"/>
              <a:t>Ensure the model can run on low-resource setups with basic GPU support.</a:t>
            </a:r>
          </a:p>
          <a:p>
            <a:endParaRPr lang="en-US" dirty="0"/>
          </a:p>
          <a:p>
            <a:r>
              <a:rPr lang="en-US" dirty="0"/>
              <a:t>Design a scalable and practical solution suitable for integration into smart bins, recycling units, and municipal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0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Methodology / Modules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Dataset Preparation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TrashNet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dataset with 2,500 labeled images across 6 waste categories.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Images resized to 224×224 and normalized using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ImageNet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standards.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Augmentation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Applied flipping, rotation,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grayscale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conversion, and brightness adjustments.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Enhances robustness to real-world variations in lighting and angles.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Model Architecture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Used ResNet50, a deep CNN with residual connections to prevent vanishing gradients.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 layer modified to classify six waste types using 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softmax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activation function.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Training Setup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Framework: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PyTorch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trained over 25 epochs using Adam optimizer and cross-entropy loss.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split: 80% training, 20% validation.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Metrics recorded per epoch for performance monitoring.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Input Layer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Accepts 224×224 pixel images with 3 channels (RGB).</a:t>
            </a:r>
          </a:p>
          <a:p>
            <a:r>
              <a:rPr lang="en-US" b="1" dirty="0"/>
              <a:t>Convolutional Layers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Initial 7×7 convolution with stride 2 and padding, followed by batch normalization, </a:t>
            </a:r>
            <a:r>
              <a:rPr lang="en-US" dirty="0" err="1"/>
              <a:t>ReLU</a:t>
            </a:r>
            <a:r>
              <a:rPr lang="en-US" dirty="0"/>
              <a:t> activation, and max pooling.</a:t>
            </a:r>
          </a:p>
          <a:p>
            <a:r>
              <a:rPr lang="en-US" b="1" dirty="0"/>
              <a:t>Residual Blocks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Includes multiple </a:t>
            </a:r>
            <a:r>
              <a:rPr lang="en-US" b="1" dirty="0"/>
              <a:t>bottleneck blocks</a:t>
            </a:r>
            <a:r>
              <a:rPr lang="en-US" dirty="0"/>
              <a:t> with skip (residual) connections to improve gradient flow and deepen the network without degradation.</a:t>
            </a:r>
          </a:p>
          <a:p>
            <a:r>
              <a:rPr lang="en-US" b="1" dirty="0"/>
              <a:t>Adaptive Average Pooling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Reduces spatial dimensions before the fully connected layer.</a:t>
            </a:r>
          </a:p>
          <a:p>
            <a:r>
              <a:rPr lang="en-US" b="1" dirty="0"/>
              <a:t>Fully Connected Layer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Final layer modified to output </a:t>
            </a:r>
            <a:r>
              <a:rPr lang="en-US" b="1" dirty="0"/>
              <a:t>6 waste categories</a:t>
            </a:r>
            <a:r>
              <a:rPr lang="en-US" dirty="0"/>
              <a:t>, followed by </a:t>
            </a:r>
            <a:r>
              <a:rPr lang="en-US" b="1" dirty="0" err="1"/>
              <a:t>softmax</a:t>
            </a:r>
            <a:r>
              <a:rPr lang="en-US" b="1" dirty="0"/>
              <a:t> activation</a:t>
            </a:r>
            <a:r>
              <a:rPr lang="en-US" dirty="0"/>
              <a:t> for classification.</a:t>
            </a:r>
          </a:p>
          <a:p>
            <a:r>
              <a:rPr lang="en-US" b="1" dirty="0"/>
              <a:t>Highlights</a:t>
            </a:r>
            <a:endParaRPr lang="en-US" dirty="0"/>
          </a:p>
          <a:p>
            <a:pPr lvl="1"/>
            <a:r>
              <a:rPr lang="en-US" dirty="0"/>
              <a:t>Efficient gradient propagation using residual connections.</a:t>
            </a:r>
          </a:p>
          <a:p>
            <a:pPr lvl="1"/>
            <a:r>
              <a:rPr lang="en-US" dirty="0"/>
              <a:t>Deep feature extraction for high accuracy.</a:t>
            </a:r>
          </a:p>
          <a:p>
            <a:pPr lvl="1"/>
            <a:r>
              <a:rPr lang="en-US" dirty="0"/>
              <a:t>Robust to variations in image quality and angles.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8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Hardware/software components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Hardware</a:t>
            </a:r>
          </a:p>
          <a:p>
            <a:r>
              <a:rPr lang="en-IN" b="1" dirty="0"/>
              <a:t>System:</a:t>
            </a:r>
            <a:r>
              <a:rPr lang="en-IN" dirty="0"/>
              <a:t> GPU-enabled PC or laptop</a:t>
            </a:r>
          </a:p>
          <a:p>
            <a:r>
              <a:rPr lang="en-IN" b="1" dirty="0"/>
              <a:t>GPU:</a:t>
            </a:r>
            <a:r>
              <a:rPr lang="en-IN" dirty="0"/>
              <a:t> NVIDIA-supported GPU for faster training</a:t>
            </a:r>
          </a:p>
          <a:p>
            <a:r>
              <a:rPr lang="en-IN" b="1" dirty="0"/>
              <a:t>Minimum Setup:</a:t>
            </a:r>
            <a:r>
              <a:rPr lang="en-IN" dirty="0"/>
              <a:t> Can run on low-end hardware for deployment</a:t>
            </a:r>
          </a:p>
          <a:p>
            <a:r>
              <a:rPr lang="en-IN" b="1" dirty="0"/>
              <a:t>Software</a:t>
            </a:r>
          </a:p>
          <a:p>
            <a:r>
              <a:rPr lang="en-IN" b="1" dirty="0"/>
              <a:t>Framework:</a:t>
            </a:r>
            <a:r>
              <a:rPr lang="en-IN" dirty="0"/>
              <a:t> </a:t>
            </a:r>
            <a:r>
              <a:rPr lang="en-IN" dirty="0" err="1"/>
              <a:t>PyTorch</a:t>
            </a:r>
            <a:endParaRPr lang="en-IN" dirty="0"/>
          </a:p>
          <a:p>
            <a:r>
              <a:rPr lang="en-IN" b="1" dirty="0"/>
              <a:t>Language:</a:t>
            </a:r>
            <a:r>
              <a:rPr lang="en-IN" dirty="0"/>
              <a:t> Python</a:t>
            </a:r>
          </a:p>
          <a:p>
            <a:r>
              <a:rPr lang="en-IN" b="1" dirty="0"/>
              <a:t>Libraries:</a:t>
            </a:r>
            <a:endParaRPr lang="en-IN" dirty="0"/>
          </a:p>
          <a:p>
            <a:pPr lvl="1"/>
            <a:r>
              <a:rPr lang="en-IN" dirty="0" err="1"/>
              <a:t>torchvision</a:t>
            </a:r>
            <a:r>
              <a:rPr lang="en-IN" dirty="0"/>
              <a:t> for data augmentation and model handling</a:t>
            </a:r>
          </a:p>
          <a:p>
            <a:pPr lvl="1"/>
            <a:r>
              <a:rPr lang="en-IN" dirty="0" err="1"/>
              <a:t>matplotlib</a:t>
            </a:r>
            <a:r>
              <a:rPr lang="en-IN" dirty="0"/>
              <a:t> / </a:t>
            </a:r>
            <a:r>
              <a:rPr lang="en-IN" dirty="0" err="1"/>
              <a:t>seaborn</a:t>
            </a:r>
            <a:r>
              <a:rPr lang="en-IN" dirty="0"/>
              <a:t> for result visualization</a:t>
            </a:r>
          </a:p>
          <a:p>
            <a:pPr lvl="1"/>
            <a:r>
              <a:rPr lang="en-IN" dirty="0"/>
              <a:t>PIL, </a:t>
            </a:r>
            <a:r>
              <a:rPr lang="en-IN" dirty="0" err="1"/>
              <a:t>NumPy</a:t>
            </a:r>
            <a:r>
              <a:rPr lang="en-IN" dirty="0"/>
              <a:t> for image and data processing</a:t>
            </a:r>
          </a:p>
          <a:p>
            <a:r>
              <a:rPr lang="en-IN" b="1" dirty="0"/>
              <a:t>Dataset</a:t>
            </a:r>
          </a:p>
          <a:p>
            <a:r>
              <a:rPr lang="en-IN" b="1" dirty="0" err="1"/>
              <a:t>TrashNet</a:t>
            </a:r>
            <a:r>
              <a:rPr lang="en-IN" b="1" dirty="0"/>
              <a:t> Dataset</a:t>
            </a:r>
            <a:endParaRPr lang="en-IN" dirty="0"/>
          </a:p>
          <a:p>
            <a:pPr lvl="1"/>
            <a:r>
              <a:rPr lang="en-IN" dirty="0"/>
              <a:t>6 categories: Plastic, Metal, Glass, Cardboard, Paper, Trash</a:t>
            </a:r>
          </a:p>
          <a:p>
            <a:pPr lvl="1"/>
            <a:r>
              <a:rPr lang="en-IN" dirty="0"/>
              <a:t>2,500 </a:t>
            </a:r>
            <a:r>
              <a:rPr lang="en-IN" dirty="0" err="1"/>
              <a:t>labeled</a:t>
            </a:r>
            <a:r>
              <a:rPr lang="en-IN" dirty="0"/>
              <a:t> images</a:t>
            </a:r>
          </a:p>
          <a:p>
            <a:r>
              <a:rPr lang="en-IN" b="1" dirty="0"/>
              <a:t>Environment</a:t>
            </a:r>
          </a:p>
          <a:p>
            <a:r>
              <a:rPr lang="en-IN" dirty="0"/>
              <a:t>OS: Windows/Linux</a:t>
            </a:r>
          </a:p>
          <a:p>
            <a:r>
              <a:rPr lang="en-IN" dirty="0"/>
              <a:t>IDE: </a:t>
            </a:r>
            <a:r>
              <a:rPr lang="en-IN" dirty="0" err="1"/>
              <a:t>Jupyter</a:t>
            </a:r>
            <a:r>
              <a:rPr lang="en-IN" dirty="0"/>
              <a:t> Notebook / VS </a:t>
            </a:r>
            <a:r>
              <a:rPr lang="en-IN" dirty="0" smtClean="0"/>
              <a:t>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48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56" y="1226917"/>
            <a:ext cx="10058400" cy="48382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1251" y="381965"/>
            <a:ext cx="772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Timeline of Project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715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GB" dirty="0"/>
              <a:t>Expected Outcomes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 dirty="0"/>
              <a:t>A working AI model capable of accurately classifying six types of waste with </a:t>
            </a:r>
            <a:r>
              <a:rPr lang="en-US" b="1" dirty="0"/>
              <a:t>97.86% validation accuracy</a:t>
            </a:r>
            <a:r>
              <a:rPr lang="en-US" dirty="0"/>
              <a:t>.</a:t>
            </a:r>
          </a:p>
          <a:p>
            <a:r>
              <a:rPr lang="en-US" dirty="0"/>
              <a:t>Demonstrated ability to handle real-world image variations such as lighting, angle, and noise.</a:t>
            </a:r>
          </a:p>
          <a:p>
            <a:r>
              <a:rPr lang="en-US" dirty="0"/>
              <a:t>A lightweight, </a:t>
            </a:r>
            <a:r>
              <a:rPr lang="en-US" b="1" dirty="0"/>
              <a:t>resource-efficient system</a:t>
            </a:r>
            <a:r>
              <a:rPr lang="en-US" dirty="0"/>
              <a:t> deployable on basic GPU setups or embedded devices.</a:t>
            </a:r>
          </a:p>
          <a:p>
            <a:r>
              <a:rPr lang="en-US" dirty="0"/>
              <a:t>Practical potential for integration into </a:t>
            </a:r>
            <a:r>
              <a:rPr lang="en-US" b="1" dirty="0"/>
              <a:t>smart bins</a:t>
            </a:r>
            <a:r>
              <a:rPr lang="en-US" dirty="0"/>
              <a:t>, </a:t>
            </a:r>
            <a:r>
              <a:rPr lang="en-US" b="1" dirty="0"/>
              <a:t>municipal recycling centers</a:t>
            </a:r>
            <a:r>
              <a:rPr lang="en-US" dirty="0"/>
              <a:t>, or </a:t>
            </a:r>
            <a:r>
              <a:rPr lang="en-US" b="1" dirty="0"/>
              <a:t>real-time waste sorting systems</a:t>
            </a:r>
            <a:r>
              <a:rPr lang="en-US" dirty="0"/>
              <a:t>.</a:t>
            </a:r>
          </a:p>
          <a:p>
            <a:r>
              <a:rPr lang="en-US" dirty="0"/>
              <a:t>A reusable and scalable AI pipeline that can be extended to other environmental classification tasks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6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GB" dirty="0"/>
              <a:t>Conclusion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 dirty="0"/>
              <a:t>The project successfully developed a deep learning-based waste classification system using </a:t>
            </a:r>
            <a:r>
              <a:rPr lang="en-US" b="1" dirty="0"/>
              <a:t>ResNet50</a:t>
            </a:r>
            <a:r>
              <a:rPr lang="en-US" dirty="0"/>
              <a:t> and the </a:t>
            </a:r>
            <a:r>
              <a:rPr lang="en-US" b="1" dirty="0" err="1"/>
              <a:t>TrashNet</a:t>
            </a:r>
            <a:r>
              <a:rPr lang="en-US" dirty="0"/>
              <a:t> dataset.</a:t>
            </a:r>
          </a:p>
          <a:p>
            <a:r>
              <a:rPr lang="en-US" dirty="0"/>
              <a:t>Through effective </a:t>
            </a:r>
            <a:r>
              <a:rPr lang="en-US" b="1" dirty="0"/>
              <a:t>data preprocessing</a:t>
            </a:r>
            <a:r>
              <a:rPr lang="en-US" dirty="0"/>
              <a:t>, </a:t>
            </a:r>
            <a:r>
              <a:rPr lang="en-US" b="1" dirty="0"/>
              <a:t>augmentation</a:t>
            </a:r>
            <a:r>
              <a:rPr lang="en-US" dirty="0"/>
              <a:t>, and </a:t>
            </a:r>
            <a:r>
              <a:rPr lang="en-US" b="1" dirty="0"/>
              <a:t>model tuning</a:t>
            </a:r>
            <a:r>
              <a:rPr lang="en-US" dirty="0"/>
              <a:t>, the system achieved high accuracy in real-world scenarios.</a:t>
            </a:r>
          </a:p>
          <a:p>
            <a:r>
              <a:rPr lang="en-US" dirty="0"/>
              <a:t>The model proved to be </a:t>
            </a:r>
            <a:r>
              <a:rPr lang="en-US" b="1" dirty="0"/>
              <a:t>efficient</a:t>
            </a:r>
            <a:r>
              <a:rPr lang="en-US" dirty="0"/>
              <a:t>, </a:t>
            </a:r>
            <a:r>
              <a:rPr lang="en-US" b="1" dirty="0"/>
              <a:t>scalable</a:t>
            </a:r>
            <a:r>
              <a:rPr lang="en-US" dirty="0"/>
              <a:t>, and capable of running on </a:t>
            </a:r>
            <a:r>
              <a:rPr lang="en-US" b="1" dirty="0"/>
              <a:t>low-resource hardware</a:t>
            </a:r>
            <a:r>
              <a:rPr lang="en-US" dirty="0"/>
              <a:t>, making it suitable for practical deployment.</a:t>
            </a:r>
          </a:p>
          <a:p>
            <a:r>
              <a:rPr lang="en-US" dirty="0"/>
              <a:t>This work demonstrates that </a:t>
            </a:r>
            <a:r>
              <a:rPr lang="en-US" b="1" dirty="0"/>
              <a:t>AI-powered waste management</a:t>
            </a:r>
            <a:r>
              <a:rPr lang="en-US" dirty="0"/>
              <a:t> is both feasible and impactful, offering a cost-effective solution for smarter, cleaner cities.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8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48904"/>
            <a:ext cx="10668000" cy="5365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buNone/>
            </a:pPr>
            <a:r>
              <a:rPr lang="en-IN" sz="1600" b="1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HTML5, CSS3, JavaScript</a:t>
            </a:r>
            <a:r>
              <a:rPr lang="en-IN" sz="1400" dirty="0"/>
              <a:t>: For structuring and styling the web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React.js</a:t>
            </a:r>
            <a:r>
              <a:rPr lang="en-IN" sz="1400" dirty="0"/>
              <a:t> (or Vanilla JavaScript): For building a dynamic and responsive user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Bootstrap/Tailwind CSS</a:t>
            </a:r>
            <a:r>
              <a:rPr lang="en-IN" sz="1400" dirty="0"/>
              <a:t>: For a responsive and modern design.</a:t>
            </a:r>
          </a:p>
          <a:p>
            <a:pPr marL="76200" indent="0">
              <a:buNone/>
            </a:pPr>
            <a:r>
              <a:rPr lang="en-IN" sz="1600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Node.js with Express.js</a:t>
            </a:r>
            <a:r>
              <a:rPr lang="en-IN" sz="1400" dirty="0"/>
              <a:t>: For server-side logic and handling API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RESTful API</a:t>
            </a:r>
            <a:r>
              <a:rPr lang="en-IN" sz="1400" dirty="0"/>
              <a:t>: To fetch and serve e-waste facility data.</a:t>
            </a:r>
          </a:p>
          <a:p>
            <a:pPr marL="76200" indent="0">
              <a:buNone/>
            </a:pPr>
            <a:r>
              <a:rPr lang="en-IN" sz="1600" b="1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MongoDB</a:t>
            </a:r>
            <a:r>
              <a:rPr lang="en-IN" sz="1400" dirty="0"/>
              <a:t>: To store facility data (locations, contact info, services).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Firebase Realtime Database</a:t>
            </a:r>
            <a:r>
              <a:rPr lang="en-IN" sz="1400" dirty="0"/>
              <a:t> (Alternative): For cloud-based storage and real-time updates.</a:t>
            </a:r>
          </a:p>
          <a:p>
            <a:pPr marL="76200" indent="0">
              <a:buNone/>
            </a:pPr>
            <a:r>
              <a:rPr lang="en-IN" sz="1600" b="1" dirty="0"/>
              <a:t>Mapping and Location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Google Maps API</a:t>
            </a:r>
            <a:r>
              <a:rPr lang="en-IN" sz="1400" dirty="0"/>
              <a:t>: For displaying facility locations on the map.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Geolocation API</a:t>
            </a:r>
            <a:r>
              <a:rPr lang="en-IN" sz="1400" dirty="0"/>
              <a:t>: To identify the user’s current location.</a:t>
            </a:r>
          </a:p>
          <a:p>
            <a:pPr marL="76200" indent="0">
              <a:buNone/>
            </a:pPr>
            <a:r>
              <a:rPr lang="en-US" sz="1600" b="1" dirty="0"/>
              <a:t>Hosting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Netlify/</a:t>
            </a:r>
            <a:r>
              <a:rPr lang="en-US" sz="1400" b="1" dirty="0" err="1"/>
              <a:t>Vercel</a:t>
            </a:r>
            <a:r>
              <a:rPr lang="en-US" sz="1400" dirty="0"/>
              <a:t>: For hosting the frontend.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Render/Heroku</a:t>
            </a:r>
            <a:r>
              <a:rPr lang="en-US" sz="1400" dirty="0"/>
              <a:t>: For backend deployment.</a:t>
            </a:r>
          </a:p>
          <a:p>
            <a:pPr marL="76200" indent="0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43155"/>
            <a:ext cx="10668000" cy="515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  <a:endParaRPr lang="en-IN" sz="1800" b="1" dirty="0"/>
          </a:p>
          <a:p>
            <a:pPr marL="76200" indent="0">
              <a:buNone/>
            </a:pPr>
            <a:r>
              <a:rPr lang="en-IN" sz="1800" b="1" dirty="0"/>
              <a:t>Operating System</a:t>
            </a:r>
            <a:r>
              <a:rPr lang="en-IN" sz="1800" dirty="0"/>
              <a:t>: Windows 10, macOS, or Linux.</a:t>
            </a:r>
          </a:p>
          <a:p>
            <a:pPr marL="76200" indent="0">
              <a:buNone/>
            </a:pPr>
            <a:r>
              <a:rPr lang="en-IN" sz="1800" b="1" dirty="0"/>
              <a:t>IDE/Text Editor</a:t>
            </a:r>
            <a:r>
              <a:rPr lang="en-IN" sz="1800" dirty="0"/>
              <a:t>: Visual Studio Code, Sublime Text, or Atom.</a:t>
            </a:r>
          </a:p>
          <a:p>
            <a:pPr marL="76200" indent="0">
              <a:buNone/>
            </a:pPr>
            <a:r>
              <a:rPr lang="en-IN" sz="1800" b="1" dirty="0"/>
              <a:t>Browser</a:t>
            </a:r>
            <a:r>
              <a:rPr lang="en-IN" sz="1800" dirty="0"/>
              <a:t>: Google Chrome, Mozilla Firefox, or Edge (for testing and development).</a:t>
            </a:r>
          </a:p>
          <a:p>
            <a:pPr marL="76200" indent="0">
              <a:buNone/>
            </a:pPr>
            <a:r>
              <a:rPr lang="en-IN" sz="1800" b="1" dirty="0"/>
              <a:t>Node.js</a:t>
            </a:r>
            <a:r>
              <a:rPr lang="en-IN" sz="1800" dirty="0"/>
              <a:t>: For backend development.</a:t>
            </a:r>
          </a:p>
          <a:p>
            <a:pPr marL="76200" indent="0">
              <a:buNone/>
            </a:pPr>
            <a:r>
              <a:rPr lang="en-IN" sz="1800" b="1" dirty="0"/>
              <a:t>MongoDB Atlas</a:t>
            </a:r>
            <a:r>
              <a:rPr lang="en-IN" sz="1800" dirty="0"/>
              <a:t>: Cloud-based database for easy deployment.</a:t>
            </a:r>
          </a:p>
          <a:p>
            <a:pPr marL="76200" indent="0">
              <a:buNone/>
            </a:pPr>
            <a:r>
              <a:rPr lang="en-IN" sz="1800" b="1" dirty="0"/>
              <a:t>Google Maps API Key</a:t>
            </a:r>
            <a:r>
              <a:rPr lang="en-IN" sz="1800" dirty="0"/>
              <a:t>: For location services.</a:t>
            </a:r>
          </a:p>
          <a:p>
            <a:pPr marL="76200" indent="0">
              <a:buNone/>
            </a:pPr>
            <a:r>
              <a:rPr lang="en-IN" sz="1800" b="1" dirty="0"/>
              <a:t>Libraries/Frameworks</a:t>
            </a:r>
            <a:r>
              <a:rPr lang="en-IN" sz="1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React.js for the frontend.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Express.js for the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Bootstrap/Tailwind for styling.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05765" y="9525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Machine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Intel i5 or equivalent.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8GB or higher.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100GB free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Devices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Desktop/Laptop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website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test mobile responsiveness.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Connection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Stable connection for API integrations and hosting.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E-waste is a growing environmental challenge, and responsible disposal is essential for a sustainable future. Our </a:t>
            </a:r>
            <a:r>
              <a:rPr lang="en-US" b="1" dirty="0"/>
              <a:t>E-Waste Collection and Recycling Website</a:t>
            </a:r>
            <a:r>
              <a:rPr lang="en-US" dirty="0"/>
              <a:t> provides a convenient and rewarding solution for individuals to dispose of their electronic waste safely. By combining location-based services, educational resources, and an incentive-based recycling model, our platform aims to create a more responsible and eco-conscious society. Together, we can make a positive impact and contribute to a cleaner, healthier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324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https://github.com/AkashManohar/E-Waste_Facility_Locator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456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74" name="Picture 2" descr="Output image">
            <a:extLst>
              <a:ext uri="{FF2B5EF4-FFF2-40B4-BE49-F238E27FC236}">
                <a16:creationId xmlns:a16="http://schemas.microsoft.com/office/drawing/2014/main" xmlns="" id="{53422CAA-41A3-E624-0BE9-73217AA69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26" y="1015638"/>
            <a:ext cx="9877514" cy="501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S. M. Al-Sabbagh, M. A. Al-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Shawaqfeh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and A. A. Al-Hajjaj, "E-Waste Management and Recycling System: A Framework for Developing Countries," IEEE Access, vol. 7, pp. 100-110, 2019.DOI: 10.1109/ACCESS.2019.2894509</a:t>
            </a:r>
          </a:p>
          <a:p>
            <a:pPr marL="495300" indent="-342900">
              <a:spcBef>
                <a:spcPts val="0"/>
              </a:spcBef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A. Sharma, K. Kumar, and R. Singh, "Effective Disposal and Recycling Techniques for E-Waste Management: A Case Study," in Proceedings of the 2018 IEEE International Conference on Environment and Electrical Engineering (EEEIC), pp. 1-6.DOI: 10.1109/EEEIC.2018.8494045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1085</Words>
  <Application>Microsoft Office PowerPoint</Application>
  <PresentationFormat>Custom</PresentationFormat>
  <Paragraphs>218</Paragraphs>
  <Slides>21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Bioinformatics</vt:lpstr>
      <vt:lpstr>PowerPoint Presentation</vt:lpstr>
      <vt:lpstr>Content</vt:lpstr>
      <vt:lpstr>Introduction</vt:lpstr>
      <vt:lpstr>Literature Review</vt:lpstr>
      <vt:lpstr>Existing method Drawback</vt:lpstr>
      <vt:lpstr>Proposed Method</vt:lpstr>
      <vt:lpstr>Objectives</vt:lpstr>
      <vt:lpstr>Methodology / Modules</vt:lpstr>
      <vt:lpstr>Architecture</vt:lpstr>
      <vt:lpstr>Hardware/software components</vt:lpstr>
      <vt:lpstr>PowerPoint Presentation</vt:lpstr>
      <vt:lpstr>Expected Outcomes</vt:lpstr>
      <vt:lpstr>Conclusion</vt:lpstr>
      <vt:lpstr>Analysis of Problem Statement</vt:lpstr>
      <vt:lpstr>Analysis of Problem Statement (contd...)</vt:lpstr>
      <vt:lpstr>Analysis of Problem Statement (contd...)</vt:lpstr>
      <vt:lpstr>Conclusion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psycho ghost</cp:lastModifiedBy>
  <cp:revision>50</cp:revision>
  <dcterms:modified xsi:type="dcterms:W3CDTF">2025-05-09T09:33:59Z</dcterms:modified>
</cp:coreProperties>
</file>